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この.presentation は実際にこの環境で収集した情報をもとに生成。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3つの要点は再現時に最初に確認する項目。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は 2026年9月リリースの macOS 26.x 系。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pandoc は未導入なので Markdown 変換の代替需要注意。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opencode のセッションDBが 443MB と大きい点は把握しておくとよい。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opencode.db は巨大なので复制対象にしないのが安全。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temperature: 0 が4エージェント全部に入っているのが要点。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ollama は起動すれば gemma4 が使える。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symlink 構造が再現時の要注意ポイント。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手順1〜4。ollama は任意。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DB は環境の一部だが通常は共有しない。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検証コマンドは実際にこの環境で実行して確認済み。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再現時に最初に見るのはこの3点。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46304"/>
          </a:xfrm>
          <a:prstGeom prst="rect">
            <a:avLst/>
          </a:prstGeom>
          <a:solidFill>
            <a:srgbClr val="22D3E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417320"/>
            <a:ext cx="566928" cy="5669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91640" y="148132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ENVIRONMENT REPRODUCTION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914400" y="2084832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現在の動作環境を再現する</a:t>
            </a:r>
            <a:endParaRPr lang="en-US" sz="4600" dirty="0"/>
          </a:p>
        </p:txBody>
      </p:sp>
      <p:sp>
        <p:nvSpPr>
          <p:cNvPr id="6" name="Text 3"/>
          <p:cNvSpPr/>
          <p:nvPr/>
        </p:nvSpPr>
        <p:spPr>
          <a:xfrm>
            <a:off x="914400" y="3072384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opencode / Claude Code 開発環境 — ハードウェア、ツールチェーン、設定、11個のSkills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914400" y="3858768"/>
            <a:ext cx="1495958" cy="384048"/>
          </a:xfrm>
          <a:prstGeom prst="roundRect">
            <a:avLst>
              <a:gd name="adj" fmla="val 50000"/>
            </a:avLst>
          </a:prstGeom>
          <a:solidFill>
            <a:srgbClr val="131C2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4400" y="3858768"/>
            <a:ext cx="149595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macOS 26.6.2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2611526" y="3858768"/>
            <a:ext cx="1989734" cy="384048"/>
          </a:xfrm>
          <a:prstGeom prst="roundRect">
            <a:avLst>
              <a:gd name="adj" fmla="val 50000"/>
            </a:avLst>
          </a:prstGeom>
          <a:solidFill>
            <a:srgbClr val="131C2E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611526" y="3858768"/>
            <a:ext cx="198973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Apple M3 / 8 core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802429" y="3858768"/>
            <a:ext cx="1890979" cy="384048"/>
          </a:xfrm>
          <a:prstGeom prst="roundRect">
            <a:avLst>
              <a:gd name="adj" fmla="val 50000"/>
            </a:avLst>
          </a:prstGeom>
          <a:solidFill>
            <a:srgbClr val="131C2E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802429" y="3858768"/>
            <a:ext cx="189097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opencode 1.18.29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894576" y="3858768"/>
            <a:ext cx="1792224" cy="384048"/>
          </a:xfrm>
          <a:prstGeom prst="roundRect">
            <a:avLst>
              <a:gd name="adj" fmla="val 50000"/>
            </a:avLst>
          </a:prstGeom>
          <a:solidFill>
            <a:srgbClr val="131C2E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894576" y="3858768"/>
            <a:ext cx="1792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B71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Homebrew 6.0.22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914400" y="5029200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ホスト: </a:t>
            </a:r>
            <a:pPr indent="0" marL="0">
              <a:buNone/>
            </a:pPr>
            <a:r>
              <a:rPr lang="en-US" sz="12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C0A23028noMacBook-Air.local</a:t>
            </a:r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シェル: </a:t>
            </a:r>
            <a:pPr indent="0" marL="0">
              <a:buNone/>
            </a:pPr>
            <a:r>
              <a:rPr lang="en-US" sz="12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/bin/zsh</a:t>
            </a:r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ロケール: </a:t>
            </a:r>
            <a:pPr indent="0" marL="0">
              <a:buNone/>
            </a:pPr>
            <a:r>
              <a:rPr lang="en-US" sz="12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ja_JP.UTF-8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914400" y="553212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調査日: 2026-10-05  /  対象: このセッションの実行マシン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40" kern="0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OVERVIEW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11247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環境サマリー — 4つの要点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737360"/>
            <a:ext cx="2606040" cy="1874520"/>
          </a:xfrm>
          <a:prstGeom prst="roundRect">
            <a:avLst>
              <a:gd name="adj" fmla="val 3902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77800" dist="38100" dir="5400000">
              <a:srgbClr val="0F172A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975104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084832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13232" y="2688336"/>
            <a:ext cx="2093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macOS 26.6.2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713232" y="3127248"/>
            <a:ext cx="20939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ビルド 25G83 / Darwin 25.6.0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337560" y="1737360"/>
            <a:ext cx="2606040" cy="1874520"/>
          </a:xfrm>
          <a:prstGeom prst="roundRect">
            <a:avLst>
              <a:gd name="adj" fmla="val 3902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77800" dist="38100" dir="5400000">
              <a:srgbClr val="0F172A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593592" y="1975104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3320" y="2084832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93592" y="2688336"/>
            <a:ext cx="2093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Apple M3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3593592" y="3127248"/>
            <a:ext cx="20939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8コア / 24 GB メモリ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217920" y="1737360"/>
            <a:ext cx="2606040" cy="1874520"/>
          </a:xfrm>
          <a:prstGeom prst="roundRect">
            <a:avLst>
              <a:gd name="adj" fmla="val 3902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77800" dist="38100" dir="5400000">
              <a:srgbClr val="0F172A">
                <a:alpha val="1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473952" y="1975104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2084832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73952" y="2688336"/>
            <a:ext cx="2093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opencode 1.18.29</a:t>
            </a:r>
            <a:endParaRPr lang="en-US" sz="1900" dirty="0"/>
          </a:p>
        </p:txBody>
      </p:sp>
      <p:sp>
        <p:nvSpPr>
          <p:cNvPr id="18" name="Text 13"/>
          <p:cNvSpPr/>
          <p:nvPr/>
        </p:nvSpPr>
        <p:spPr>
          <a:xfrm>
            <a:off x="6473952" y="3127248"/>
            <a:ext cx="20939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2.1.233 と併用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9098280" y="1737360"/>
            <a:ext cx="2606040" cy="1874520"/>
          </a:xfrm>
          <a:prstGeom prst="roundRect">
            <a:avLst>
              <a:gd name="adj" fmla="val 3902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77800" dist="38100" dir="5400000">
              <a:srgbClr val="0F172A">
                <a:alpha val="16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354312" y="1975104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FB7185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4040" y="2084832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354312" y="2688336"/>
            <a:ext cx="2093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 Skills</a:t>
            </a:r>
            <a:endParaRPr lang="en-US" sz="1900" dirty="0"/>
          </a:p>
        </p:txBody>
      </p:sp>
      <p:sp>
        <p:nvSpPr>
          <p:cNvPr id="23" name="Text 17"/>
          <p:cNvSpPr/>
          <p:nvPr/>
        </p:nvSpPr>
        <p:spPr>
          <a:xfrm>
            <a:off x="9354312" y="3127248"/>
            <a:ext cx="20939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実体10 + built-in 1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457200" y="3913632"/>
            <a:ext cx="11247120" cy="2194560"/>
          </a:xfrm>
          <a:prstGeom prst="roundRect">
            <a:avLst>
              <a:gd name="adj" fmla="val 3333"/>
            </a:avLst>
          </a:prstGeom>
          <a:solidFill>
            <a:srgbClr val="0F172A"/>
          </a:solidFill>
          <a:ln/>
          <a:effectLst>
            <a:outerShdw sx="100000" sy="100000" kx="0" ky="0" algn="bl" rotWithShape="0" blurRad="177800" dist="38100" dir="5400000">
              <a:srgbClr val="0F172A">
                <a:alpha val="16000"/>
              </a:srgbClr>
            </a:outerShdw>
          </a:effectLst>
        </p:spPr>
      </p:sp>
      <p:sp>
        <p:nvSpPr>
          <p:cNvPr id="25" name="Text 19"/>
          <p:cNvSpPr/>
          <p:nvPr/>
        </p:nvSpPr>
        <p:spPr>
          <a:xfrm>
            <a:off x="713232" y="411480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この構成の要点</a:t>
            </a:r>
            <a:endParaRPr lang="en-US" sz="1700" dirty="0"/>
          </a:p>
        </p:txBody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4626864"/>
            <a:ext cx="201168" cy="20116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024128" y="45720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 最小  </a:t>
            </a:r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パッケージ管理は Homebrew 6.0.22 に集約。すべての主要ツールが /opt/homebrew/bin 配下にある。</a:t>
            </a:r>
            <a:endParaRPr lang="en-US" sz="1300" dirty="0"/>
          </a:p>
        </p:txBody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5138928"/>
            <a:ext cx="201168" cy="201168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1024128" y="5084064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2つの AI エージェント  </a:t>
            </a:r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opencode（Homebrew）と Claude Code（npm -g）。両者が設定・Skills を共有する二刀流構成。</a:t>
            </a:r>
            <a:endParaRPr lang="en-US" sz="1300" dirty="0"/>
          </a:p>
        </p:txBody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520" y="5650992"/>
            <a:ext cx="201168" cy="201168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1024128" y="5596128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ローカル LLM は未起動  </a:t>
            </a:r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0.32.13 は導入済みだが brew service は none。プロバイダ設定は存在するが実行時は停止。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40" kern="0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LAYER 1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11247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ハードウェアとOS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627632"/>
            <a:ext cx="11247120" cy="4480560"/>
          </a:xfrm>
          <a:prstGeom prst="roundRect">
            <a:avLst>
              <a:gd name="adj" fmla="val 1633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77800" dist="38100" dir="5400000">
              <a:srgbClr val="0F172A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03504" y="1810512"/>
            <a:ext cx="10954512" cy="402336"/>
          </a:xfrm>
          <a:prstGeom prst="rect">
            <a:avLst/>
          </a:prstGeom>
          <a:solidFill>
            <a:srgbClr val="E8EDF4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810512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チップ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43200" y="1810512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Apple M3 (arm64)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2231136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コア数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0" y="2231136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03504" y="2651760"/>
            <a:ext cx="10954512" cy="402336"/>
          </a:xfrm>
          <a:prstGeom prst="rect">
            <a:avLst/>
          </a:prstGeom>
          <a:solidFill>
            <a:srgbClr val="E8EDF4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65176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メモリ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743200" y="2651760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25,769,803,776 bytes (24 GB)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" y="3072384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カーネル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743200" y="3072384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Darwin 25.6.0 — xnu-12377.161.14~5/RELEASE_ARM64_T8122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03504" y="3493008"/>
            <a:ext cx="10954512" cy="402336"/>
          </a:xfrm>
          <a:prstGeom prst="rect">
            <a:avLst/>
          </a:prstGeom>
          <a:solidFill>
            <a:srgbClr val="E8EDF4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493008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ビルド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743200" y="3493008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Fri Jul 31 19:18:29 PDT 2026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31520" y="3913632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ディスク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743200" y="3913632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/dev/disk3s1s1 — 926 GiB 中 699 GiB 空き (2% 使用)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03504" y="4334256"/>
            <a:ext cx="10954512" cy="402336"/>
          </a:xfrm>
          <a:prstGeom prst="rect">
            <a:avLst/>
          </a:prstGeom>
          <a:solidFill>
            <a:srgbClr val="E8EDF4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4334256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ホスト名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743200" y="4334256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C0A23028noMacBook-Air.local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31520" y="475488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ログインシェル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743200" y="4754880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/bin/zsh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03504" y="5175504"/>
            <a:ext cx="10954512" cy="402336"/>
          </a:xfrm>
          <a:prstGeom prst="rect">
            <a:avLst/>
          </a:prstGeom>
          <a:solidFill>
            <a:srgbClr val="E8EDF4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5175504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ロケール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2743200" y="5175504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ja_JP.UTF-8 (LANG / LC_COLLATE / LC_CTYPE)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31520" y="5596128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設定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2743200" y="5596128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git-lfs filter 有効 / GitHub 認証は gh に委譲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57200" y="6236208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T8122 は Apple M3 の SoC 識別子。Intel 系ではなく arm64 ネイティブで動作している。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40" kern="0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LAYER 2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11247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開発ツールチェーン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3566160" cy="1783080"/>
          </a:xfrm>
          <a:prstGeom prst="roundRect">
            <a:avLst>
              <a:gd name="adj" fmla="val 4103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77800" dist="38100" dir="5400000">
              <a:srgbClr val="0F172A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94944" y="1911096"/>
            <a:ext cx="493776" cy="493776"/>
          </a:xfrm>
          <a:prstGeom prst="roundRect">
            <a:avLst>
              <a:gd name="adj" fmla="val 22222"/>
            </a:avLst>
          </a:prstGeom>
          <a:solidFill>
            <a:srgbClr val="0F172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2002536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98448" y="192938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Homebrew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298448" y="2176272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6.0.22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694944" y="2551176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/opt/homebrew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694944" y="2807208"/>
            <a:ext cx="3090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すべてのツールの導入元。formula と cask を使い分け。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297680" y="1691640"/>
            <a:ext cx="3566160" cy="1783080"/>
          </a:xfrm>
          <a:prstGeom prst="roundRect">
            <a:avLst>
              <a:gd name="adj" fmla="val 4103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77800" dist="38100" dir="5400000">
              <a:srgbClr val="0F172A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35424" y="1911096"/>
            <a:ext cx="493776" cy="493776"/>
          </a:xfrm>
          <a:prstGeom prst="roundRect">
            <a:avLst>
              <a:gd name="adj" fmla="val 22222"/>
            </a:avLst>
          </a:prstGeom>
          <a:solidFill>
            <a:srgbClr val="0F172A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6864" y="2002536"/>
            <a:ext cx="310896" cy="31089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138928" y="192938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5138928" y="2176272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v26.7.0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4535424" y="2551176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npm 11.19.0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4535424" y="2807208"/>
            <a:ext cx="3090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pptxgenjs / react-icons / sharp はこの npm 経由で供給。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8138160" y="1691640"/>
            <a:ext cx="3566160" cy="1783080"/>
          </a:xfrm>
          <a:prstGeom prst="roundRect">
            <a:avLst>
              <a:gd name="adj" fmla="val 4103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77800" dist="38100" dir="5400000">
              <a:srgbClr val="0F172A">
                <a:alpha val="16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375904" y="1911096"/>
            <a:ext cx="493776" cy="493776"/>
          </a:xfrm>
          <a:prstGeom prst="roundRect">
            <a:avLst>
              <a:gd name="adj" fmla="val 22222"/>
            </a:avLst>
          </a:prstGeom>
          <a:solidFill>
            <a:srgbClr val="0F172A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7344" y="2002536"/>
            <a:ext cx="310896" cy="31089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979408" y="192938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8979408" y="2176272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3.13.13</a:t>
            </a:r>
            <a:endParaRPr lang="en-US" sz="1150" dirty="0"/>
          </a:p>
        </p:txBody>
      </p:sp>
      <p:sp>
        <p:nvSpPr>
          <p:cNvPr id="23" name="Text 18"/>
          <p:cNvSpPr/>
          <p:nvPr/>
        </p:nvSpPr>
        <p:spPr>
          <a:xfrm>
            <a:off x="8375904" y="2551176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/opt/miniconda3</a:t>
            </a:r>
            <a:endParaRPr lang="en-US" sz="1050" dirty="0"/>
          </a:p>
        </p:txBody>
      </p:sp>
      <p:sp>
        <p:nvSpPr>
          <p:cNvPr id="24" name="Text 19"/>
          <p:cNvSpPr/>
          <p:nvPr/>
        </p:nvSpPr>
        <p:spPr>
          <a:xfrm>
            <a:off x="8375904" y="2807208"/>
            <a:ext cx="3090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先頭が miniconda3。pip 26.0.1 が同梱。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457200" y="3749040"/>
            <a:ext cx="3566160" cy="1783080"/>
          </a:xfrm>
          <a:prstGeom prst="roundRect">
            <a:avLst>
              <a:gd name="adj" fmla="val 4103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77800" dist="38100" dir="5400000">
              <a:srgbClr val="0F172A">
                <a:alpha val="16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694944" y="3968496"/>
            <a:ext cx="493776" cy="493776"/>
          </a:xfrm>
          <a:prstGeom prst="roundRect">
            <a:avLst>
              <a:gd name="adj" fmla="val 22222"/>
            </a:avLst>
          </a:prstGeom>
          <a:solidFill>
            <a:srgbClr val="0F172A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384" y="4059936"/>
            <a:ext cx="310896" cy="310896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298448" y="398678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CLI</a:t>
            </a:r>
            <a:endParaRPr lang="en-US" sz="1500" dirty="0"/>
          </a:p>
        </p:txBody>
      </p:sp>
      <p:sp>
        <p:nvSpPr>
          <p:cNvPr id="29" name="Text 23"/>
          <p:cNvSpPr/>
          <p:nvPr/>
        </p:nvSpPr>
        <p:spPr>
          <a:xfrm>
            <a:off x="1298448" y="4233672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2.100.0</a:t>
            </a:r>
            <a:endParaRPr lang="en-US" sz="1150" dirty="0"/>
          </a:p>
        </p:txBody>
      </p:sp>
      <p:sp>
        <p:nvSpPr>
          <p:cNvPr id="30" name="Text 24"/>
          <p:cNvSpPr/>
          <p:nvPr/>
        </p:nvSpPr>
        <p:spPr>
          <a:xfrm>
            <a:off x="694944" y="4608576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credential helper</a:t>
            </a:r>
            <a:endParaRPr lang="en-US" sz="1050" dirty="0"/>
          </a:p>
        </p:txBody>
      </p:sp>
      <p:sp>
        <p:nvSpPr>
          <p:cNvPr id="31" name="Text 25"/>
          <p:cNvSpPr/>
          <p:nvPr/>
        </p:nvSpPr>
        <p:spPr>
          <a:xfrm>
            <a:off x="694944" y="4864608"/>
            <a:ext cx="3090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の push 認証は gh auth に委譲。</a:t>
            </a:r>
            <a:endParaRPr lang="en-US" sz="1100" dirty="0"/>
          </a:p>
        </p:txBody>
      </p:sp>
      <p:sp>
        <p:nvSpPr>
          <p:cNvPr id="32" name="Shape 26"/>
          <p:cNvSpPr/>
          <p:nvPr/>
        </p:nvSpPr>
        <p:spPr>
          <a:xfrm>
            <a:off x="4297680" y="3749040"/>
            <a:ext cx="3566160" cy="1783080"/>
          </a:xfrm>
          <a:prstGeom prst="roundRect">
            <a:avLst>
              <a:gd name="adj" fmla="val 4103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77800" dist="38100" dir="5400000">
              <a:srgbClr val="0F172A">
                <a:alpha val="16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4535424" y="3968496"/>
            <a:ext cx="493776" cy="493776"/>
          </a:xfrm>
          <a:prstGeom prst="roundRect">
            <a:avLst>
              <a:gd name="adj" fmla="val 22222"/>
            </a:avLst>
          </a:prstGeom>
          <a:solidFill>
            <a:srgbClr val="0F172A"/>
          </a:solidFill>
          <a:ln/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26864" y="4059936"/>
            <a:ext cx="310896" cy="310896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5138928" y="398678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ripgrep</a:t>
            </a:r>
            <a:endParaRPr lang="en-US" sz="1500" dirty="0"/>
          </a:p>
        </p:txBody>
      </p:sp>
      <p:sp>
        <p:nvSpPr>
          <p:cNvPr id="36" name="Text 29"/>
          <p:cNvSpPr/>
          <p:nvPr/>
        </p:nvSpPr>
        <p:spPr>
          <a:xfrm>
            <a:off x="5138928" y="4233672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15.2.0</a:t>
            </a:r>
            <a:endParaRPr lang="en-US" sz="1150" dirty="0"/>
          </a:p>
        </p:txBody>
      </p:sp>
      <p:sp>
        <p:nvSpPr>
          <p:cNvPr id="37" name="Text 30"/>
          <p:cNvSpPr/>
          <p:nvPr/>
        </p:nvSpPr>
        <p:spPr>
          <a:xfrm>
            <a:off x="4535424" y="4608576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高速grep</a:t>
            </a:r>
            <a:endParaRPr lang="en-US" sz="1050" dirty="0"/>
          </a:p>
        </p:txBody>
      </p:sp>
      <p:sp>
        <p:nvSpPr>
          <p:cNvPr id="38" name="Text 31"/>
          <p:cNvSpPr/>
          <p:nvPr/>
        </p:nvSpPr>
        <p:spPr>
          <a:xfrm>
            <a:off x="4535424" y="4864608"/>
            <a:ext cx="3090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opencode / Claude Code 双方の既定検索ツール。</a:t>
            </a:r>
            <a:endParaRPr lang="en-US" sz="1100" dirty="0"/>
          </a:p>
        </p:txBody>
      </p:sp>
      <p:sp>
        <p:nvSpPr>
          <p:cNvPr id="39" name="Shape 32"/>
          <p:cNvSpPr/>
          <p:nvPr/>
        </p:nvSpPr>
        <p:spPr>
          <a:xfrm>
            <a:off x="8138160" y="3749040"/>
            <a:ext cx="3566160" cy="1783080"/>
          </a:xfrm>
          <a:prstGeom prst="roundRect">
            <a:avLst>
              <a:gd name="adj" fmla="val 4103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77800" dist="38100" dir="5400000">
              <a:srgbClr val="0F172A">
                <a:alpha val="16000"/>
              </a:srgbClr>
            </a:outerShdw>
          </a:effectLst>
        </p:spPr>
      </p:sp>
      <p:sp>
        <p:nvSpPr>
          <p:cNvPr id="40" name="Shape 33"/>
          <p:cNvSpPr/>
          <p:nvPr/>
        </p:nvSpPr>
        <p:spPr>
          <a:xfrm>
            <a:off x="8375904" y="3968496"/>
            <a:ext cx="493776" cy="493776"/>
          </a:xfrm>
          <a:prstGeom prst="roundRect">
            <a:avLst>
              <a:gd name="adj" fmla="val 22222"/>
            </a:avLst>
          </a:prstGeom>
          <a:solidFill>
            <a:srgbClr val="0F172A"/>
          </a:solidFill>
          <a:ln/>
        </p:spPr>
      </p:sp>
      <p:pic>
        <p:nvPicPr>
          <p:cNvPr id="4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7344" y="4059936"/>
            <a:ext cx="310896" cy="310896"/>
          </a:xfrm>
          <a:prstGeom prst="rect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8979408" y="398678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jq</a:t>
            </a:r>
            <a:endParaRPr lang="en-US" sz="1500" dirty="0"/>
          </a:p>
        </p:txBody>
      </p:sp>
      <p:sp>
        <p:nvSpPr>
          <p:cNvPr id="43" name="Text 35"/>
          <p:cNvSpPr/>
          <p:nvPr/>
        </p:nvSpPr>
        <p:spPr>
          <a:xfrm>
            <a:off x="8979408" y="4233672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1.7.1</a:t>
            </a:r>
            <a:endParaRPr lang="en-US" sz="1150" dirty="0"/>
          </a:p>
        </p:txBody>
      </p:sp>
      <p:sp>
        <p:nvSpPr>
          <p:cNvPr id="44" name="Text 36"/>
          <p:cNvSpPr/>
          <p:nvPr/>
        </p:nvSpPr>
        <p:spPr>
          <a:xfrm>
            <a:off x="8375904" y="4608576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JSON プロセッサ</a:t>
            </a:r>
            <a:endParaRPr lang="en-US" sz="1050" dirty="0"/>
          </a:p>
        </p:txBody>
      </p:sp>
      <p:sp>
        <p:nvSpPr>
          <p:cNvPr id="45" name="Text 37"/>
          <p:cNvSpPr/>
          <p:nvPr/>
        </p:nvSpPr>
        <p:spPr>
          <a:xfrm>
            <a:off x="8375904" y="4864608"/>
            <a:ext cx="3090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設定ファイルと認証情報の検証に使用。</a:t>
            </a:r>
            <a:endParaRPr lang="en-US" sz="1100" dirty="0"/>
          </a:p>
        </p:txBody>
      </p:sp>
      <p:sp>
        <p:nvSpPr>
          <p:cNvPr id="46" name="Shape 38"/>
          <p:cNvSpPr/>
          <p:nvPr/>
        </p:nvSpPr>
        <p:spPr>
          <a:xfrm>
            <a:off x="457200" y="5532120"/>
            <a:ext cx="11247120" cy="658368"/>
          </a:xfrm>
          <a:prstGeom prst="roundRect">
            <a:avLst>
              <a:gd name="adj" fmla="val 11111"/>
            </a:avLst>
          </a:prstGeom>
          <a:solidFill>
            <a:srgbClr val="FFF7ED"/>
          </a:solidFill>
          <a:ln/>
          <a:effectLst>
            <a:outerShdw sx="100000" sy="100000" kx="0" ky="0" algn="bl" rotWithShape="0" blurRad="177800" dist="38100" dir="5400000">
              <a:srgbClr val="0F172A">
                <a:alpha val="16000"/>
              </a:srgbClr>
            </a:outerShdw>
          </a:effectLst>
        </p:spPr>
      </p:sp>
      <p:pic>
        <p:nvPicPr>
          <p:cNvPr id="4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3232" y="5724144"/>
            <a:ext cx="274320" cy="274320"/>
          </a:xfrm>
          <a:prstGeom prst="rect">
            <a:avLst/>
          </a:prstGeom>
        </p:spPr>
      </p:pic>
      <p:sp>
        <p:nvSpPr>
          <p:cNvPr id="48" name="Text 39"/>
          <p:cNvSpPr/>
          <p:nvPr/>
        </p:nvSpPr>
        <p:spPr>
          <a:xfrm>
            <a:off x="1097280" y="5532120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A3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未導入: </a:t>
            </a:r>
            <a:pPr indent="0" marL="0">
              <a:buNone/>
            </a:pPr>
            <a:r>
              <a:rPr lang="en-US" sz="1250" dirty="0">
                <a:solidFill>
                  <a:srgbClr val="7C2D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pandoc</a:t>
            </a:r>
            <a:pPr indent="0" marL="0">
              <a:buNone/>
            </a:pPr>
            <a:r>
              <a:rPr lang="en-US" sz="1250" dirty="0">
                <a:solidFill>
                  <a:srgbClr val="9A3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</a:t>
            </a:r>
            <a:pPr indent="0" marL="0">
              <a:buNone/>
            </a:pPr>
            <a:r>
              <a:rPr lang="en-US" sz="1250" dirty="0">
                <a:solidFill>
                  <a:srgbClr val="7C2D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</a:t>
            </a:r>
            <a:pPr indent="0" marL="0">
              <a:buNone/>
            </a:pPr>
            <a:r>
              <a:rPr lang="en-US" sz="1250" dirty="0">
                <a:solidFill>
                  <a:srgbClr val="7C2D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/ Java</a:t>
            </a:r>
            <a:pPr indent="0" marL="0">
              <a:buNone/>
            </a:pPr>
            <a:r>
              <a:rPr lang="en-US" sz="1250" dirty="0">
                <a:solidFill>
                  <a:srgbClr val="9A3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</a:t>
            </a:r>
            <a:pPr indent="0" marL="0">
              <a:buNone/>
            </a:pPr>
            <a:r>
              <a:rPr lang="en-US" sz="1250" dirty="0">
                <a:solidFill>
                  <a:srgbClr val="7C2D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fd</a:t>
            </a:r>
            <a:pPr indent="0" marL="0">
              <a:buNone/>
            </a:pPr>
            <a:r>
              <a:rPr lang="en-US" sz="1250" dirty="0">
                <a:solidFill>
                  <a:srgbClr val="9A3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再現スクリプトには含めない。文書変換は LibreOffice が担う。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40" kern="0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LAYER 3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11247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2つの AI エージェント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5257800" cy="4526280"/>
          </a:xfrm>
          <a:prstGeom prst="roundRect">
            <a:avLst>
              <a:gd name="adj" fmla="val 1616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77800" dist="38100" dir="5400000">
              <a:srgbClr val="0F172A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645920"/>
            <a:ext cx="5257800" cy="109728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6" name="Shape 4"/>
          <p:cNvSpPr/>
          <p:nvPr/>
        </p:nvSpPr>
        <p:spPr>
          <a:xfrm>
            <a:off x="713232" y="1956816"/>
            <a:ext cx="512064" cy="512064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066544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35024" y="1975104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opencode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1335024" y="224028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1.18.29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713232" y="2615184"/>
            <a:ext cx="4745736" cy="786384"/>
          </a:xfrm>
          <a:prstGeom prst="roundRect">
            <a:avLst>
              <a:gd name="adj" fmla="val 9302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14400" y="2761488"/>
            <a:ext cx="4343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brew install opencode</a:t>
            </a:r>
            <a:endParaRPr lang="en-US" sz="10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/opt/homebrew/Cellar/opencode/1.18.29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713232" y="3584448"/>
            <a:ext cx="1097280" cy="329184"/>
          </a:xfrm>
          <a:prstGeom prst="roundRect">
            <a:avLst>
              <a:gd name="adj" fmla="val 16667"/>
            </a:avLst>
          </a:prstGeom>
          <a:solidFill>
            <a:srgbClr val="E2E8F0"/>
          </a:solidFill>
          <a:ln/>
        </p:spPr>
      </p:sp>
      <p:sp>
        <p:nvSpPr>
          <p:cNvPr id="13" name="Text 10"/>
          <p:cNvSpPr/>
          <p:nvPr/>
        </p:nvSpPr>
        <p:spPr>
          <a:xfrm>
            <a:off x="713232" y="3584448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設定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1901952" y="3584448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opencode.jsonc / .opencode.json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713232" y="4041648"/>
            <a:ext cx="1097280" cy="329184"/>
          </a:xfrm>
          <a:prstGeom prst="roundRect">
            <a:avLst>
              <a:gd name="adj" fmla="val 16667"/>
            </a:avLst>
          </a:prstGeom>
          <a:solidFill>
            <a:srgbClr val="E2E8F0"/>
          </a:solidFill>
          <a:ln/>
        </p:spPr>
      </p:sp>
      <p:sp>
        <p:nvSpPr>
          <p:cNvPr id="16" name="Text 13"/>
          <p:cNvSpPr/>
          <p:nvPr/>
        </p:nvSpPr>
        <p:spPr>
          <a:xfrm>
            <a:off x="713232" y="4041648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プラグイン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1901952" y="4041648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@opencode-ai/plugin 1.18.18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713232" y="4498848"/>
            <a:ext cx="1097280" cy="329184"/>
          </a:xfrm>
          <a:prstGeom prst="roundRect">
            <a:avLst>
              <a:gd name="adj" fmla="val 16667"/>
            </a:avLst>
          </a:prstGeom>
          <a:solidFill>
            <a:srgbClr val="E2E8F0"/>
          </a:solidFill>
          <a:ln/>
        </p:spPr>
      </p:sp>
      <p:sp>
        <p:nvSpPr>
          <p:cNvPr id="19" name="Text 16"/>
          <p:cNvSpPr/>
          <p:nvPr/>
        </p:nvSpPr>
        <p:spPr>
          <a:xfrm>
            <a:off x="713232" y="4498848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セッションDB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1901952" y="4498848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opencode.db — 443 MB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713232" y="4956048"/>
            <a:ext cx="1097280" cy="329184"/>
          </a:xfrm>
          <a:prstGeom prst="roundRect">
            <a:avLst>
              <a:gd name="adj" fmla="val 16667"/>
            </a:avLst>
          </a:prstGeom>
          <a:solidFill>
            <a:srgbClr val="E2E8F0"/>
          </a:solidFill>
          <a:ln/>
        </p:spPr>
      </p:sp>
      <p:sp>
        <p:nvSpPr>
          <p:cNvPr id="22" name="Text 19"/>
          <p:cNvSpPr/>
          <p:nvPr/>
        </p:nvSpPr>
        <p:spPr>
          <a:xfrm>
            <a:off x="713232" y="4956048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ツール出力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1901952" y="4956048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tool-output/ にキャッシュ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713232" y="5413248"/>
            <a:ext cx="1097280" cy="329184"/>
          </a:xfrm>
          <a:prstGeom prst="roundRect">
            <a:avLst>
              <a:gd name="adj" fmla="val 16667"/>
            </a:avLst>
          </a:prstGeom>
          <a:solidFill>
            <a:srgbClr val="E2E8F0"/>
          </a:solidFill>
          <a:ln/>
        </p:spPr>
      </p:sp>
      <p:sp>
        <p:nvSpPr>
          <p:cNvPr id="25" name="Text 22"/>
          <p:cNvSpPr/>
          <p:nvPr/>
        </p:nvSpPr>
        <p:spPr>
          <a:xfrm>
            <a:off x="713232" y="5413248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1901952" y="5413248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未設定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989320" y="1645920"/>
            <a:ext cx="5257800" cy="4526280"/>
          </a:xfrm>
          <a:prstGeom prst="roundRect">
            <a:avLst>
              <a:gd name="adj" fmla="val 1616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77800" dist="38100" dir="5400000">
              <a:srgbClr val="0F172A">
                <a:alpha val="16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5989320" y="1645920"/>
            <a:ext cx="5257800" cy="109728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/>
        </p:spPr>
      </p:sp>
      <p:sp>
        <p:nvSpPr>
          <p:cNvPr id="29" name="Shape 26"/>
          <p:cNvSpPr/>
          <p:nvPr/>
        </p:nvSpPr>
        <p:spPr>
          <a:xfrm>
            <a:off x="6245352" y="1956816"/>
            <a:ext cx="512064" cy="512064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/>
        </p:spPr>
      </p:sp>
      <p:pic>
        <p:nvPicPr>
          <p:cNvPr id="3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2066544"/>
            <a:ext cx="292608" cy="292608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6867144" y="1975104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Code</a:t>
            </a:r>
            <a:endParaRPr lang="en-US" sz="1900" dirty="0"/>
          </a:p>
        </p:txBody>
      </p:sp>
      <p:sp>
        <p:nvSpPr>
          <p:cNvPr id="32" name="Text 28"/>
          <p:cNvSpPr/>
          <p:nvPr/>
        </p:nvSpPr>
        <p:spPr>
          <a:xfrm>
            <a:off x="6867144" y="224028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2.1.233</a:t>
            </a:r>
            <a:endParaRPr lang="en-US" sz="1150" dirty="0"/>
          </a:p>
        </p:txBody>
      </p:sp>
      <p:sp>
        <p:nvSpPr>
          <p:cNvPr id="33" name="Shape 29"/>
          <p:cNvSpPr/>
          <p:nvPr/>
        </p:nvSpPr>
        <p:spPr>
          <a:xfrm>
            <a:off x="6245352" y="2615184"/>
            <a:ext cx="4745736" cy="786384"/>
          </a:xfrm>
          <a:prstGeom prst="roundRect">
            <a:avLst>
              <a:gd name="adj" fmla="val 9302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6446520" y="2761488"/>
            <a:ext cx="4343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i -g @anthropic-ai/claude-code</a:t>
            </a:r>
            <a:endParaRPr lang="en-US" sz="10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/opt/homebrew/lib/node_modules/@anthropic-ai</a:t>
            </a:r>
            <a:endParaRPr lang="en-US" sz="1050" dirty="0"/>
          </a:p>
        </p:txBody>
      </p:sp>
      <p:sp>
        <p:nvSpPr>
          <p:cNvPr id="35" name="Shape 31"/>
          <p:cNvSpPr/>
          <p:nvPr/>
        </p:nvSpPr>
        <p:spPr>
          <a:xfrm>
            <a:off x="6245352" y="3584448"/>
            <a:ext cx="1097280" cy="329184"/>
          </a:xfrm>
          <a:prstGeom prst="roundRect">
            <a:avLst>
              <a:gd name="adj" fmla="val 16667"/>
            </a:avLst>
          </a:prstGeom>
          <a:solidFill>
            <a:srgbClr val="E2E8F0"/>
          </a:solidFill>
          <a:ln/>
        </p:spPr>
      </p:sp>
      <p:sp>
        <p:nvSpPr>
          <p:cNvPr id="36" name="Text 32"/>
          <p:cNvSpPr/>
          <p:nvPr/>
        </p:nvSpPr>
        <p:spPr>
          <a:xfrm>
            <a:off x="6245352" y="3584448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設定</a:t>
            </a:r>
            <a:endParaRPr lang="en-US" sz="1050" dirty="0"/>
          </a:p>
        </p:txBody>
      </p:sp>
      <p:sp>
        <p:nvSpPr>
          <p:cNvPr id="37" name="Text 33"/>
          <p:cNvSpPr/>
          <p:nvPr/>
        </p:nvSpPr>
        <p:spPr>
          <a:xfrm>
            <a:off x="7434072" y="3584448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settings.json — theme: dark</a:t>
            </a:r>
            <a:endParaRPr lang="en-US" sz="1050" dirty="0"/>
          </a:p>
        </p:txBody>
      </p:sp>
      <p:sp>
        <p:nvSpPr>
          <p:cNvPr id="38" name="Shape 34"/>
          <p:cNvSpPr/>
          <p:nvPr/>
        </p:nvSpPr>
        <p:spPr>
          <a:xfrm>
            <a:off x="6245352" y="4041648"/>
            <a:ext cx="1097280" cy="329184"/>
          </a:xfrm>
          <a:prstGeom prst="roundRect">
            <a:avLst>
              <a:gd name="adj" fmla="val 16667"/>
            </a:avLst>
          </a:prstGeom>
          <a:solidFill>
            <a:srgbClr val="E2E8F0"/>
          </a:solidFill>
          <a:ln/>
        </p:spPr>
      </p:sp>
      <p:sp>
        <p:nvSpPr>
          <p:cNvPr id="39" name="Text 35"/>
          <p:cNvSpPr/>
          <p:nvPr/>
        </p:nvSpPr>
        <p:spPr>
          <a:xfrm>
            <a:off x="6245352" y="4041648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</a:t>
            </a:r>
            <a:endParaRPr lang="en-US" sz="1050" dirty="0"/>
          </a:p>
        </p:txBody>
      </p:sp>
      <p:sp>
        <p:nvSpPr>
          <p:cNvPr id="40" name="Text 36"/>
          <p:cNvSpPr/>
          <p:nvPr/>
        </p:nvSpPr>
        <p:spPr>
          <a:xfrm>
            <a:off x="7434072" y="4041648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7個（6個は .agents への symlink）</a:t>
            </a:r>
            <a:endParaRPr lang="en-US" sz="1050" dirty="0"/>
          </a:p>
        </p:txBody>
      </p:sp>
      <p:sp>
        <p:nvSpPr>
          <p:cNvPr id="41" name="Shape 37"/>
          <p:cNvSpPr/>
          <p:nvPr/>
        </p:nvSpPr>
        <p:spPr>
          <a:xfrm>
            <a:off x="6245352" y="4498848"/>
            <a:ext cx="1097280" cy="329184"/>
          </a:xfrm>
          <a:prstGeom prst="roundRect">
            <a:avLst>
              <a:gd name="adj" fmla="val 16667"/>
            </a:avLst>
          </a:prstGeom>
          <a:solidFill>
            <a:srgbClr val="E2E8F0"/>
          </a:solidFill>
          <a:ln/>
        </p:spPr>
      </p:sp>
      <p:sp>
        <p:nvSpPr>
          <p:cNvPr id="42" name="Text 38"/>
          <p:cNvSpPr/>
          <p:nvPr/>
        </p:nvSpPr>
        <p:spPr>
          <a:xfrm>
            <a:off x="6245352" y="4498848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plugin</a:t>
            </a:r>
            <a:endParaRPr lang="en-US" sz="1050" dirty="0"/>
          </a:p>
        </p:txBody>
      </p:sp>
      <p:sp>
        <p:nvSpPr>
          <p:cNvPr id="43" name="Text 39"/>
          <p:cNvSpPr/>
          <p:nvPr/>
        </p:nvSpPr>
        <p:spPr>
          <a:xfrm>
            <a:off x="7434072" y="4498848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progress-report（実体ディレクトリ）</a:t>
            </a:r>
            <a:endParaRPr lang="en-US" sz="1050" dirty="0"/>
          </a:p>
        </p:txBody>
      </p:sp>
      <p:sp>
        <p:nvSpPr>
          <p:cNvPr id="44" name="Shape 40"/>
          <p:cNvSpPr/>
          <p:nvPr/>
        </p:nvSpPr>
        <p:spPr>
          <a:xfrm>
            <a:off x="6245352" y="4956048"/>
            <a:ext cx="1097280" cy="329184"/>
          </a:xfrm>
          <a:prstGeom prst="roundRect">
            <a:avLst>
              <a:gd name="adj" fmla="val 16667"/>
            </a:avLst>
          </a:prstGeom>
          <a:solidFill>
            <a:srgbClr val="E2E8F0"/>
          </a:solidFill>
          <a:ln/>
        </p:spPr>
      </p:sp>
      <p:sp>
        <p:nvSpPr>
          <p:cNvPr id="45" name="Text 41"/>
          <p:cNvSpPr/>
          <p:nvPr/>
        </p:nvSpPr>
        <p:spPr>
          <a:xfrm>
            <a:off x="6245352" y="4956048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</a:t>
            </a:r>
            <a:endParaRPr lang="en-US" sz="1050" dirty="0"/>
          </a:p>
        </p:txBody>
      </p:sp>
      <p:sp>
        <p:nvSpPr>
          <p:cNvPr id="46" name="Text 42"/>
          <p:cNvSpPr/>
          <p:nvPr/>
        </p:nvSpPr>
        <p:spPr>
          <a:xfrm>
            <a:off x="7434072" y="4956048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未設定（claude mcp list で確認）</a:t>
            </a:r>
            <a:endParaRPr lang="en-US" sz="1050" dirty="0"/>
          </a:p>
        </p:txBody>
      </p:sp>
      <p:sp>
        <p:nvSpPr>
          <p:cNvPr id="47" name="Shape 43"/>
          <p:cNvSpPr/>
          <p:nvPr/>
        </p:nvSpPr>
        <p:spPr>
          <a:xfrm>
            <a:off x="6245352" y="5413248"/>
            <a:ext cx="1097280" cy="329184"/>
          </a:xfrm>
          <a:prstGeom prst="roundRect">
            <a:avLst>
              <a:gd name="adj" fmla="val 16667"/>
            </a:avLst>
          </a:prstGeom>
          <a:solidFill>
            <a:srgbClr val="E2E8F0"/>
          </a:solidFill>
          <a:ln/>
        </p:spPr>
      </p:sp>
      <p:sp>
        <p:nvSpPr>
          <p:cNvPr id="48" name="Text 44"/>
          <p:cNvSpPr/>
          <p:nvPr/>
        </p:nvSpPr>
        <p:spPr>
          <a:xfrm>
            <a:off x="6245352" y="5413248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履歴</a:t>
            </a:r>
            <a:endParaRPr lang="en-US" sz="1050" dirty="0"/>
          </a:p>
        </p:txBody>
      </p:sp>
      <p:sp>
        <p:nvSpPr>
          <p:cNvPr id="49" name="Text 45"/>
          <p:cNvSpPr/>
          <p:nvPr/>
        </p:nvSpPr>
        <p:spPr>
          <a:xfrm>
            <a:off x="7434072" y="5413248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backups/ + cache/changelog.md</a:t>
            </a:r>
            <a:endParaRPr lang="en-US" sz="1050" dirty="0"/>
          </a:p>
        </p:txBody>
      </p:sp>
      <p:sp>
        <p:nvSpPr>
          <p:cNvPr id="50" name="Text 46"/>
          <p:cNvSpPr/>
          <p:nvPr/>
        </p:nvSpPr>
        <p:spPr>
          <a:xfrm>
            <a:off x="457200" y="6272784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両者とも MCP サーバは未設定。認証は auth.json ではなく環境変数 / CLI 認証で運用されている。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40" kern="0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LAYER 4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11247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設定ファイルの配置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627632"/>
            <a:ext cx="6675120" cy="4526280"/>
          </a:xfrm>
          <a:prstGeom prst="roundRect">
            <a:avLst>
              <a:gd name="adj" fmla="val 161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773936"/>
            <a:ext cx="6272784" cy="4233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~/.config/opencode/</a:t>
            </a:r>
            <a:endParaRPr lang="en-US" sz="10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opencode.jsonc        エージェント設定（実効値）</a:t>
            </a:r>
            <a:endParaRPr lang="en-US" sz="10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.opencode.json        プロバイダ定義（Ollama）</a:t>
            </a:r>
            <a:endParaRPr lang="en-US" sz="10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package.json          プラグイン依存</a:t>
            </a:r>
            <a:endParaRPr lang="en-US" sz="10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package-lock.json     解決済みロック</a:t>
            </a:r>
            <a:endParaRPr lang="en-US" sz="10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.gitignore            node_modules を除外</a:t>
            </a:r>
            <a:endParaRPr lang="en-US" sz="10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skills/</a:t>
            </a:r>
            <a:endParaRPr lang="en-US" sz="10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awesome-claude-skills/SKILL.md</a:t>
            </a:r>
            <a:endParaRPr lang="en-US" sz="10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skill-creator/SKILL.md</a:t>
            </a:r>
            <a:endParaRPr lang="en-US" sz="10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node_modules/         30 パッケージ</a:t>
            </a:r>
            <a:endParaRPr lang="en-US" sz="1000" dirty="0"/>
          </a:p>
          <a:p>
            <a:pPr indent="0" marL="0">
              <a:lnSpc>
                <a:spcPct val="124000"/>
              </a:lnSpc>
              <a:buNone/>
            </a:pPr>
            <a:endParaRPr lang="en-US" sz="10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~/.claude/</a:t>
            </a:r>
            <a:endParaRPr lang="en-US" sz="10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settings.json         theme: dark</a:t>
            </a:r>
            <a:endParaRPr lang="en-US" sz="10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skills/               7 個（6 は symlink）</a:t>
            </a:r>
            <a:endParaRPr lang="en-US" sz="10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cache/changelog.md</a:t>
            </a:r>
            <a:endParaRPr lang="en-US" sz="10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backups/</a:t>
            </a:r>
            <a:endParaRPr lang="en-US" sz="1000" dirty="0"/>
          </a:p>
          <a:p>
            <a:pPr indent="0" marL="0">
              <a:lnSpc>
                <a:spcPct val="124000"/>
              </a:lnSpc>
              <a:buNone/>
            </a:pPr>
            <a:endParaRPr lang="en-US" sz="10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~/.local/share/opencode/</a:t>
            </a:r>
            <a:endParaRPr lang="en-US" sz="10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opencode.db          SQLite — セッション本体</a:t>
            </a:r>
            <a:endParaRPr lang="en-US" sz="10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log/  repos/  snapshot/  tool-output/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406640" y="1627632"/>
            <a:ext cx="4297680" cy="2194560"/>
          </a:xfrm>
          <a:prstGeom prst="roundRect">
            <a:avLst>
              <a:gd name="adj" fmla="val 3333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77800" dist="38100" dir="5400000">
              <a:srgbClr val="0F172A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62672" y="1847088"/>
            <a:ext cx="310896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065008" y="184708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3層構造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680960" y="228600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~/.agents/skills
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実体。7個を git 管理（.skill-lock.json）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7680960" y="276148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~/.claude/skills
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6個が上の symlink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680960" y="3236976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~/.config/opencode/skills
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opencode 専用 2 個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7406640" y="3977640"/>
            <a:ext cx="4297680" cy="2176272"/>
          </a:xfrm>
          <a:prstGeom prst="roundRect">
            <a:avLst>
              <a:gd name="adj" fmla="val 3361"/>
            </a:avLst>
          </a:prstGeom>
          <a:solidFill>
            <a:srgbClr val="0F172A"/>
          </a:solidFill>
          <a:ln/>
          <a:effectLst>
            <a:outerShdw sx="100000" sy="100000" kx="0" ky="0" algn="bl" rotWithShape="0" blurRad="177800" dist="38100" dir="5400000">
              <a:srgbClr val="0F172A">
                <a:alpha val="16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2672" y="4187952"/>
            <a:ext cx="292608" cy="29260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8046720" y="418795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セッション状態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7680960" y="4590288"/>
            <a:ext cx="37490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opencode.db
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443,133,952 bytes
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SQLite。履歴・ツール呼び出しを保持。再現時は原則コピー不要。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40" kern="0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 A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11247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エージェント設定 — opencode.jsonc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627632"/>
            <a:ext cx="6492240" cy="2880360"/>
          </a:xfrm>
          <a:prstGeom prst="roundRect">
            <a:avLst>
              <a:gd name="adj" fmla="val 254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773936"/>
            <a:ext cx="6089904" cy="2587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"$schema": "https://opencode.ai/config.json",</a:t>
            </a:r>
            <a:endParaRPr lang="en-US" sz="12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"agent": {</a:t>
            </a:r>
            <a:endParaRPr lang="en-US" sz="12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"build":   { "temperature": 0, "top_p": 0.2 },</a:t>
            </a:r>
            <a:endParaRPr lang="en-US" sz="12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"plan":    { "temperature": 0, "top_p": 0.2 },</a:t>
            </a:r>
            <a:endParaRPr lang="en-US" sz="12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"general": { "temperature": 0, "top_p": 0.2 },</a:t>
            </a:r>
            <a:endParaRPr lang="en-US" sz="12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"explore": { "temperature": 0, "top_p": 0.2 }</a:t>
            </a:r>
            <a:endParaRPr lang="en-US" sz="12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223760" y="1627632"/>
            <a:ext cx="4480560" cy="2880360"/>
          </a:xfrm>
          <a:prstGeom prst="roundRect">
            <a:avLst>
              <a:gd name="adj" fmla="val 2540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77800" dist="38100" dir="5400000">
              <a:srgbClr val="0F172A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1504" y="182880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845552" y="182880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読み取れる設計方針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7479792" y="2340864"/>
            <a:ext cx="91440" cy="384048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10" name="Text 7"/>
          <p:cNvSpPr/>
          <p:nvPr/>
        </p:nvSpPr>
        <p:spPr>
          <a:xfrm>
            <a:off x="7680960" y="2286000"/>
            <a:ext cx="37673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temperature: 0
</a:t>
            </a:r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全エージェントでサンプリングを完全に無効化。毎回同じ結果になる決定論的な挙動。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479792" y="2889504"/>
            <a:ext cx="91440" cy="384048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12" name="Text 9"/>
          <p:cNvSpPr/>
          <p:nvPr/>
        </p:nvSpPr>
        <p:spPr>
          <a:xfrm>
            <a:off x="7680960" y="2834640"/>
            <a:ext cx="37673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top_p: 0.2
</a:t>
            </a:r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nucleus サンプリングを絞って無関係なトークンの出現を減らす。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7479792" y="3438144"/>
            <a:ext cx="91440" cy="384048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/>
        </p:spPr>
      </p:sp>
      <p:sp>
        <p:nvSpPr>
          <p:cNvPr id="14" name="Text 11"/>
          <p:cNvSpPr/>
          <p:nvPr/>
        </p:nvSpPr>
        <p:spPr>
          <a:xfrm>
            <a:off x="7680960" y="3383280"/>
            <a:ext cx="37673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4エージェント同時指定
</a:t>
            </a:r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/ plan / general / explore を一括で固定し、挙動の差を無くしている。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7479792" y="3986784"/>
            <a:ext cx="91440" cy="384048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/>
        </p:spPr>
      </p:sp>
      <p:sp>
        <p:nvSpPr>
          <p:cNvPr id="16" name="Text 13"/>
          <p:cNvSpPr/>
          <p:nvPr/>
        </p:nvSpPr>
        <p:spPr>
          <a:xfrm>
            <a:off x="7680960" y="3931920"/>
            <a:ext cx="37673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は未指定
</a:t>
            </a:r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モデル指定は設定せず実行時の指定に委ねている。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57200" y="4754880"/>
            <a:ext cx="3566160" cy="1325880"/>
          </a:xfrm>
          <a:prstGeom prst="roundRect">
            <a:avLst>
              <a:gd name="adj" fmla="val 5517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77800" dist="38100" dir="5400000">
              <a:srgbClr val="0F172A">
                <a:alpha val="16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76656" y="4974336"/>
            <a:ext cx="438912" cy="438912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/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" y="5065776"/>
            <a:ext cx="256032" cy="256032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1225296" y="4974336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v26.7.0 + npm 11.19.0</a:t>
            </a:r>
            <a:endParaRPr lang="en-US" sz="1150" dirty="0"/>
          </a:p>
        </p:txBody>
      </p:sp>
      <p:sp>
        <p:nvSpPr>
          <p:cNvPr id="21" name="Text 17"/>
          <p:cNvSpPr/>
          <p:nvPr/>
        </p:nvSpPr>
        <p:spPr>
          <a:xfrm>
            <a:off x="676656" y="5522976"/>
            <a:ext cx="3127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pptxgenjs / react-icons / sharp を実行する前提。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4297680" y="4754880"/>
            <a:ext cx="3566160" cy="1325880"/>
          </a:xfrm>
          <a:prstGeom prst="roundRect">
            <a:avLst>
              <a:gd name="adj" fmla="val 5517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77800" dist="38100" dir="5400000">
              <a:srgbClr val="0F172A">
                <a:alpha val="16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4517136" y="4974336"/>
            <a:ext cx="438912" cy="438912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/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8576" y="5065776"/>
            <a:ext cx="256032" cy="256032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5065776" y="4974336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3.13.13 (miniconda3)</a:t>
            </a:r>
            <a:endParaRPr lang="en-US" sz="1150" dirty="0"/>
          </a:p>
        </p:txBody>
      </p:sp>
      <p:sp>
        <p:nvSpPr>
          <p:cNvPr id="26" name="Text 21"/>
          <p:cNvSpPr/>
          <p:nvPr/>
        </p:nvSpPr>
        <p:spPr>
          <a:xfrm>
            <a:off x="4517136" y="5522976"/>
            <a:ext cx="3127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 26.0.1。markitdown / Pillow / lxml / defusedxml を使用。</a:t>
            </a:r>
            <a:endParaRPr lang="en-US" sz="1050" dirty="0"/>
          </a:p>
        </p:txBody>
      </p:sp>
      <p:sp>
        <p:nvSpPr>
          <p:cNvPr id="27" name="Shape 22"/>
          <p:cNvSpPr/>
          <p:nvPr/>
        </p:nvSpPr>
        <p:spPr>
          <a:xfrm>
            <a:off x="8138160" y="4754880"/>
            <a:ext cx="3566160" cy="1325880"/>
          </a:xfrm>
          <a:prstGeom prst="roundRect">
            <a:avLst>
              <a:gd name="adj" fmla="val 5517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77800" dist="38100" dir="5400000">
              <a:srgbClr val="0F172A">
                <a:alpha val="16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8357616" y="4974336"/>
            <a:ext cx="438912" cy="438912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/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9056" y="5065776"/>
            <a:ext cx="256032" cy="256032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8906256" y="4974336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LibreOffice 26.8.0.3 (cask)</a:t>
            </a:r>
            <a:endParaRPr lang="en-US" sz="1150" dirty="0"/>
          </a:p>
        </p:txBody>
      </p:sp>
      <p:sp>
        <p:nvSpPr>
          <p:cNvPr id="31" name="Text 25"/>
          <p:cNvSpPr/>
          <p:nvPr/>
        </p:nvSpPr>
        <p:spPr>
          <a:xfrm>
            <a:off x="8357616" y="5522976"/>
            <a:ext cx="3127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pptx → PDF → 画像変換の QA レンダリング担当。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40" kern="0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 B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11247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ローカル LLM プロバイダ — .opencode.json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572768"/>
            <a:ext cx="6035040" cy="2743200"/>
          </a:xfrm>
          <a:prstGeom prst="roundRect">
            <a:avLst>
              <a:gd name="adj" fmla="val 266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719072"/>
            <a:ext cx="5632704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"provider": {</a:t>
            </a:r>
            <a:endParaRPr lang="en-US" sz="10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"ollama": {</a:t>
            </a:r>
            <a:endParaRPr lang="en-US" sz="10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"npm": "@ai-sdk/openai-compatible",</a:t>
            </a:r>
            <a:endParaRPr lang="en-US" sz="10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"name": "Ollama",</a:t>
            </a:r>
            <a:endParaRPr lang="en-US" sz="10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"options": {</a:t>
            </a:r>
            <a:endParaRPr lang="en-US" sz="10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"baseURL": "http://127.0.0.1:11434/v1",</a:t>
            </a:r>
            <a:endParaRPr lang="en-US" sz="10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"apiKey": "ollama"</a:t>
            </a:r>
            <a:endParaRPr lang="en-US" sz="10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},</a:t>
            </a:r>
            <a:endParaRPr lang="en-US" sz="10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"models": { "gemma4": { "name": "gemma4" } }</a:t>
            </a:r>
            <a:endParaRPr lang="en-US" sz="10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57200" y="4462272"/>
            <a:ext cx="6035040" cy="1618488"/>
          </a:xfrm>
          <a:prstGeom prst="roundRect">
            <a:avLst>
              <a:gd name="adj" fmla="val 4520"/>
            </a:avLst>
          </a:prstGeom>
          <a:solidFill>
            <a:srgbClr val="FEF2F2"/>
          </a:solidFill>
          <a:ln/>
          <a:effectLst>
            <a:outerShdw sx="100000" sy="100000" kx="0" ky="0" algn="bl" rotWithShape="0" blurRad="177800" dist="38100" dir="5400000">
              <a:srgbClr val="0F172A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4645152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60704" y="4626864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91B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現在この経路は使えない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13232" y="4992624"/>
            <a:ext cx="5532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7F1D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brew services list → ollama: none
</a:t>
            </a:r>
            <a:pPr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7F1D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ollama list → could not connect to ollama server
</a:t>
            </a:r>
            <a:pPr indent="0" marL="0">
              <a:lnSpc>
                <a:spcPct val="116000"/>
              </a:lnSpc>
              <a:buNone/>
            </a:pPr>
            <a:endParaRPr lang="en-US" sz="10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定義は残っているがサーバが停止中のため、モデル一覧も取得できない状態。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766560" y="1627632"/>
            <a:ext cx="4937760" cy="4453128"/>
          </a:xfrm>
          <a:prstGeom prst="roundRect">
            <a:avLst>
              <a:gd name="adj" fmla="val 1643"/>
            </a:avLst>
          </a:prstGeom>
          <a:solidFill>
            <a:srgbClr val="0F172A"/>
          </a:solidFill>
          <a:ln/>
          <a:effectLst>
            <a:outerShdw sx="100000" sy="100000" kx="0" ky="0" algn="bl" rotWithShape="0" blurRad="177800" dist="38100" dir="5400000">
              <a:srgbClr val="0F172A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040880" y="1847088"/>
            <a:ext cx="493776" cy="493776"/>
          </a:xfrm>
          <a:prstGeom prst="roundRect">
            <a:avLst>
              <a:gd name="adj" fmla="val 50000"/>
            </a:avLst>
          </a:prstGeom>
          <a:solidFill>
            <a:srgbClr val="0B1220"/>
          </a:solidFill>
          <a:ln w="12700">
            <a:solidFill>
              <a:srgbClr val="F8FAFC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938528"/>
            <a:ext cx="310896" cy="31089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644384" y="184708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Ollama 0.32.13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7644384" y="2121408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/opt/homebrew/Cellar/ollama/0.32.13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7040880" y="2523744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16" name="Text 12"/>
          <p:cNvSpPr/>
          <p:nvPr/>
        </p:nvSpPr>
        <p:spPr>
          <a:xfrm>
            <a:off x="7040880" y="25237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7443216" y="2487168"/>
            <a:ext cx="39684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起動
</a:t>
            </a:r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brew services start ollama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7040880" y="3108960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19" name="Text 15"/>
          <p:cNvSpPr/>
          <p:nvPr/>
        </p:nvSpPr>
        <p:spPr>
          <a:xfrm>
            <a:off x="7040880" y="31089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7443216" y="3072384"/>
            <a:ext cx="39684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確認
</a:t>
            </a:r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 http://127.0.0.1:11434/api/tags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7040880" y="3694176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22" name="Text 18"/>
          <p:cNvSpPr/>
          <p:nvPr/>
        </p:nvSpPr>
        <p:spPr>
          <a:xfrm>
            <a:off x="7040880" y="36941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7443216" y="3657600"/>
            <a:ext cx="39684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モデル
</a:t>
            </a:r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ollama pull gemma4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7040880" y="427939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25" name="Text 21"/>
          <p:cNvSpPr/>
          <p:nvPr/>
        </p:nvSpPr>
        <p:spPr>
          <a:xfrm>
            <a:off x="7040880" y="42793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6" name="Text 22"/>
          <p:cNvSpPr/>
          <p:nvPr/>
        </p:nvSpPr>
        <p:spPr>
          <a:xfrm>
            <a:off x="7443216" y="4242816"/>
            <a:ext cx="39684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切替
</a:t>
            </a:r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モデル指定で ollama/gemma4 を選択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7040880" y="4882896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互換 API を介すため npm 依存は @ai-sdk/openai-compatible。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40" kern="0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LAYER 5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11247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Skills — 3ディレクトリに11件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627632"/>
            <a:ext cx="3566160" cy="4114800"/>
          </a:xfrm>
          <a:prstGeom prst="roundRect">
            <a:avLst>
              <a:gd name="adj" fmla="val 2051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77800" dist="38100" dir="5400000">
              <a:srgbClr val="0F172A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627632"/>
            <a:ext cx="3566160" cy="9144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84708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~/.agents/skills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310128" y="1810512"/>
            <a:ext cx="493776" cy="310896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8" name="Text 6"/>
          <p:cNvSpPr/>
          <p:nvPr/>
        </p:nvSpPr>
        <p:spPr>
          <a:xfrm>
            <a:off x="3310128" y="1810512"/>
            <a:ext cx="493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7個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76656" y="2121408"/>
            <a:ext cx="3127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実体（git 管理）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58368" y="2450592"/>
            <a:ext cx="3163824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8096" y="2450592"/>
            <a:ext cx="2944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academic-paper
</a:t>
            </a:r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imbad0202/academic-research-skills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58368" y="2898648"/>
            <a:ext cx="3163824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8096" y="2898648"/>
            <a:ext cx="2944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pdf
</a:t>
            </a:r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anthropics/skills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58368" y="3346704"/>
            <a:ext cx="3163824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3346704"/>
            <a:ext cx="2944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pdf-extraction
</a:t>
            </a:r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claude-office-skills/skills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58368" y="3794760"/>
            <a:ext cx="3163824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8096" y="3794760"/>
            <a:ext cx="2944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pptx
</a:t>
            </a:r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anthropics/skills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58368" y="4242816"/>
            <a:ext cx="3163824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68096" y="4242816"/>
            <a:ext cx="2944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smart-ocr
</a:t>
            </a:r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claude-office-skills/skills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58368" y="4690872"/>
            <a:ext cx="3163824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8096" y="4690872"/>
            <a:ext cx="2944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summarize
</a:t>
            </a:r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openclaw/openclaw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58368" y="5138928"/>
            <a:ext cx="3163824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8096" y="5138928"/>
            <a:ext cx="2944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find-skills
</a:t>
            </a:r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vercel-labs/skills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297680" y="1627632"/>
            <a:ext cx="3566160" cy="4114800"/>
          </a:xfrm>
          <a:prstGeom prst="roundRect">
            <a:avLst>
              <a:gd name="adj" fmla="val 2051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77800" dist="38100" dir="5400000">
              <a:srgbClr val="0F172A">
                <a:alpha val="1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297680" y="1627632"/>
            <a:ext cx="3566160" cy="91440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/>
        </p:spPr>
      </p:sp>
      <p:sp>
        <p:nvSpPr>
          <p:cNvPr id="26" name="Text 24"/>
          <p:cNvSpPr/>
          <p:nvPr/>
        </p:nvSpPr>
        <p:spPr>
          <a:xfrm>
            <a:off x="4517136" y="184708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~/.config/opencode/skills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7150608" y="1810512"/>
            <a:ext cx="493776" cy="310896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/>
        </p:spPr>
      </p:sp>
      <p:sp>
        <p:nvSpPr>
          <p:cNvPr id="28" name="Text 26"/>
          <p:cNvSpPr/>
          <p:nvPr/>
        </p:nvSpPr>
        <p:spPr>
          <a:xfrm>
            <a:off x="7150608" y="1810512"/>
            <a:ext cx="493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2個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517136" y="2121408"/>
            <a:ext cx="3127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実体（opencode 専用）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498848" y="2450592"/>
            <a:ext cx="3163824" cy="384048"/>
          </a:xfrm>
          <a:prstGeom prst="roundRect">
            <a:avLst>
              <a:gd name="adj" fmla="val 11905"/>
            </a:avLst>
          </a:prstGeom>
          <a:solidFill>
            <a:srgbClr val="E0F2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08576" y="2450592"/>
            <a:ext cx="2944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awesome-skill-creator
</a:t>
            </a:r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ローカル配置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498848" y="2898648"/>
            <a:ext cx="3163824" cy="384048"/>
          </a:xfrm>
          <a:prstGeom prst="roundRect">
            <a:avLst>
              <a:gd name="adj" fmla="val 11905"/>
            </a:avLst>
          </a:prstGeom>
          <a:solidFill>
            <a:srgbClr val="E0F2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08576" y="2898648"/>
            <a:ext cx="2944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skill-creator
</a:t>
            </a:r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ローカル配置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8138160" y="1627632"/>
            <a:ext cx="3566160" cy="4114800"/>
          </a:xfrm>
          <a:prstGeom prst="roundRect">
            <a:avLst>
              <a:gd name="adj" fmla="val 2051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77800" dist="38100" dir="5400000">
              <a:srgbClr val="0F172A">
                <a:alpha val="16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8138160" y="1627632"/>
            <a:ext cx="3566160" cy="91440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/>
        </p:spPr>
      </p:sp>
      <p:sp>
        <p:nvSpPr>
          <p:cNvPr id="36" name="Text 34"/>
          <p:cNvSpPr/>
          <p:nvPr/>
        </p:nvSpPr>
        <p:spPr>
          <a:xfrm>
            <a:off x="8357616" y="184708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~/.claude/skills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10991088" y="1810512"/>
            <a:ext cx="493776" cy="310896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/>
        </p:spPr>
      </p:sp>
      <p:sp>
        <p:nvSpPr>
          <p:cNvPr id="38" name="Text 36"/>
          <p:cNvSpPr/>
          <p:nvPr/>
        </p:nvSpPr>
        <p:spPr>
          <a:xfrm>
            <a:off x="10991088" y="1810512"/>
            <a:ext cx="493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7個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8357616" y="2121408"/>
            <a:ext cx="3127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6個は symlink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8339328" y="2450592"/>
            <a:ext cx="3163824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449056" y="2450592"/>
            <a:ext cx="2944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academic-paper
</a:t>
            </a:r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.agents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8339328" y="2898648"/>
            <a:ext cx="3163824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449056" y="2898648"/>
            <a:ext cx="2944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pdf
</a:t>
            </a:r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.agents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8339328" y="3346704"/>
            <a:ext cx="3163824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449056" y="3346704"/>
            <a:ext cx="2944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pdf-extraction
</a:t>
            </a:r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.agents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8339328" y="3794760"/>
            <a:ext cx="3163824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449056" y="3794760"/>
            <a:ext cx="2944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pptx
</a:t>
            </a:r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.agents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8339328" y="4242816"/>
            <a:ext cx="3163824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449056" y="4242816"/>
            <a:ext cx="2944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smart-ocr
</a:t>
            </a:r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.agents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8339328" y="4690872"/>
            <a:ext cx="3163824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449056" y="4690872"/>
            <a:ext cx="2944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summarize
</a:t>
            </a:r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.agents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8339328" y="5138928"/>
            <a:ext cx="3163824" cy="384048"/>
          </a:xfrm>
          <a:prstGeom prst="roundRect">
            <a:avLst>
              <a:gd name="adj" fmla="val 11905"/>
            </a:avLst>
          </a:prstGeom>
          <a:solidFill>
            <a:srgbClr val="E0F2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449056" y="5138928"/>
            <a:ext cx="2944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progress-report
</a:t>
            </a:r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実体ディレクトリ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457200" y="5870448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ECFDF5"/>
          </a:solidFill>
          <a:ln/>
          <a:effectLst>
            <a:outerShdw sx="100000" sy="100000" kx="0" ky="0" algn="bl" rotWithShape="0" blurRad="177800" dist="38100" dir="5400000">
              <a:srgbClr val="0F172A">
                <a:alpha val="16000"/>
              </a:srgbClr>
            </a:outerShdw>
          </a:effectLst>
        </p:spPr>
      </p:sp>
      <p:sp>
        <p:nvSpPr>
          <p:cNvPr id="55" name="Text 53"/>
          <p:cNvSpPr/>
          <p:nvPr/>
        </p:nvSpPr>
        <p:spPr>
          <a:xfrm>
            <a:off x="713232" y="5870448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実体で管理するのは 9 個</a:t>
            </a:r>
            <a:pPr indent="0" marL="0">
              <a:buNone/>
            </a:pPr>
            <a:r>
              <a:rPr lang="en-US" sz="1150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（.agents 7 + opencode 2 + progress-report 1、加えて opencode 内蔵の customize-opencode で合計 11）。~/.claude/skills の 6 個は ~/.agents への symlink なので、.agents 側を消すと Claude Code 側も同時に消える。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40" kern="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REPRODUCTION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9144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再現手順 ①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2606040" cy="3977640"/>
          </a:xfrm>
          <a:prstGeom prst="roundRect">
            <a:avLst>
              <a:gd name="adj" fmla="val 2807"/>
            </a:avLst>
          </a:prstGeom>
          <a:solidFill>
            <a:srgbClr val="172033"/>
          </a:solidFill>
          <a:ln/>
          <a:effectLst>
            <a:outerShdw sx="100000" sy="100000" kx="0" ky="0" algn="bl" rotWithShape="0" blurRad="177800" dist="38100" dir="5400000">
              <a:srgbClr val="0F172A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94944" y="1837944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6" name="Text 4"/>
          <p:cNvSpPr/>
          <p:nvPr/>
        </p:nvSpPr>
        <p:spPr>
          <a:xfrm>
            <a:off x="694944" y="18379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94944" y="2441448"/>
            <a:ext cx="2130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前提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58368" y="2843784"/>
            <a:ext cx="2203704" cy="1691640"/>
          </a:xfrm>
          <a:prstGeom prst="roundRect">
            <a:avLst>
              <a:gd name="adj" fmla="val 3243"/>
            </a:avLst>
          </a:prstGeom>
          <a:solidFill>
            <a:srgbClr val="131C2E"/>
          </a:solidFill>
          <a:ln w="9525">
            <a:solidFill>
              <a:srgbClr val="2430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6384" y="2953512"/>
            <a:ext cx="1947672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macOS 26.6.2 / arm64</a:t>
            </a:r>
            <a:endParaRPr lang="en-US" sz="9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（Intel 版では動かない）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58368" y="4672584"/>
            <a:ext cx="2203704" cy="685800"/>
          </a:xfrm>
          <a:prstGeom prst="roundRect">
            <a:avLst>
              <a:gd name="adj" fmla="val 8000"/>
            </a:avLst>
          </a:prstGeom>
          <a:solidFill>
            <a:srgbClr val="1B2A3F"/>
          </a:solidFill>
          <a:ln/>
        </p:spPr>
      </p:sp>
      <p:sp>
        <p:nvSpPr>
          <p:cNvPr id="11" name="Text 9"/>
          <p:cNvSpPr/>
          <p:nvPr/>
        </p:nvSpPr>
        <p:spPr>
          <a:xfrm>
            <a:off x="786384" y="4745736"/>
            <a:ext cx="1947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確認
</a:t>
            </a:r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sw_vers と uname -m で確認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337560" y="1600200"/>
            <a:ext cx="2606040" cy="3977640"/>
          </a:xfrm>
          <a:prstGeom prst="roundRect">
            <a:avLst>
              <a:gd name="adj" fmla="val 2807"/>
            </a:avLst>
          </a:prstGeom>
          <a:solidFill>
            <a:srgbClr val="172033"/>
          </a:solidFill>
          <a:ln/>
          <a:effectLst>
            <a:outerShdw sx="100000" sy="100000" kx="0" ky="0" algn="bl" rotWithShape="0" blurRad="177800" dist="38100" dir="5400000">
              <a:srgbClr val="0F172A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575304" y="1837944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14" name="Text 12"/>
          <p:cNvSpPr/>
          <p:nvPr/>
        </p:nvSpPr>
        <p:spPr>
          <a:xfrm>
            <a:off x="3575304" y="18379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575304" y="2441448"/>
            <a:ext cx="2130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導入スクリプト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538728" y="2843784"/>
            <a:ext cx="2203704" cy="1691640"/>
          </a:xfrm>
          <a:prstGeom prst="roundRect">
            <a:avLst>
              <a:gd name="adj" fmla="val 3243"/>
            </a:avLst>
          </a:prstGeom>
          <a:solidFill>
            <a:srgbClr val="131C2E"/>
          </a:solidFill>
          <a:ln w="9525">
            <a:solidFill>
              <a:srgbClr val="2430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66744" y="2953512"/>
            <a:ext cx="1947672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Homebrew</a:t>
            </a:r>
            <a:endParaRPr lang="en-US" sz="9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brew install opencode ripgrep jq gh git-lfs</a:t>
            </a:r>
            <a:endParaRPr lang="en-US" sz="9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brew install --cask libreoffice</a:t>
            </a:r>
            <a:endParaRPr lang="en-US" sz="9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i -g @anthropic-ai/claude-code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538728" y="4672584"/>
            <a:ext cx="2203704" cy="685800"/>
          </a:xfrm>
          <a:prstGeom prst="roundRect">
            <a:avLst>
              <a:gd name="adj" fmla="val 8000"/>
            </a:avLst>
          </a:prstGeom>
          <a:solidFill>
            <a:srgbClr val="1B2A3F"/>
          </a:solidFill>
          <a:ln/>
        </p:spPr>
      </p:sp>
      <p:sp>
        <p:nvSpPr>
          <p:cNvPr id="19" name="Text 17"/>
          <p:cNvSpPr/>
          <p:nvPr/>
        </p:nvSpPr>
        <p:spPr>
          <a:xfrm>
            <a:off x="3666744" y="4745736"/>
            <a:ext cx="1947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確認
</a:t>
            </a:r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paste 可能なコマンド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217920" y="1600200"/>
            <a:ext cx="2606040" cy="3977640"/>
          </a:xfrm>
          <a:prstGeom prst="roundRect">
            <a:avLst>
              <a:gd name="adj" fmla="val 2807"/>
            </a:avLst>
          </a:prstGeom>
          <a:solidFill>
            <a:srgbClr val="172033"/>
          </a:solidFill>
          <a:ln/>
          <a:effectLst>
            <a:outerShdw sx="100000" sy="100000" kx="0" ky="0" algn="bl" rotWithShape="0" blurRad="177800" dist="38100" dir="5400000">
              <a:srgbClr val="0F172A">
                <a:alpha val="1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55664" y="1837944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22" name="Text 20"/>
          <p:cNvSpPr/>
          <p:nvPr/>
        </p:nvSpPr>
        <p:spPr>
          <a:xfrm>
            <a:off x="6455664" y="18379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455664" y="2441448"/>
            <a:ext cx="2130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言語ランタイム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419088" y="2843784"/>
            <a:ext cx="2203704" cy="1691640"/>
          </a:xfrm>
          <a:prstGeom prst="roundRect">
            <a:avLst>
              <a:gd name="adj" fmla="val 3243"/>
            </a:avLst>
          </a:prstGeom>
          <a:solidFill>
            <a:srgbClr val="131C2E"/>
          </a:solidFill>
          <a:ln w="9525">
            <a:solidFill>
              <a:srgbClr val="2430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47104" y="2953512"/>
            <a:ext cx="1947672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Node.js v26.7.0 以上</a:t>
            </a:r>
            <a:endParaRPr lang="en-US" sz="9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3.13.13（miniconda3）</a:t>
            </a:r>
            <a:endParaRPr lang="en-US" sz="9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PATH 先頭は /opt/miniconda3/bin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419088" y="4672584"/>
            <a:ext cx="2203704" cy="685800"/>
          </a:xfrm>
          <a:prstGeom prst="roundRect">
            <a:avLst>
              <a:gd name="adj" fmla="val 8000"/>
            </a:avLst>
          </a:prstGeom>
          <a:solidFill>
            <a:srgbClr val="1B2A3F"/>
          </a:solidFill>
          <a:ln/>
        </p:spPr>
      </p:sp>
      <p:sp>
        <p:nvSpPr>
          <p:cNvPr id="27" name="Text 25"/>
          <p:cNvSpPr/>
          <p:nvPr/>
        </p:nvSpPr>
        <p:spPr>
          <a:xfrm>
            <a:off x="6547104" y="4745736"/>
            <a:ext cx="1947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確認
</a:t>
            </a:r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 -v / python3 -V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9098280" y="1600200"/>
            <a:ext cx="2606040" cy="3977640"/>
          </a:xfrm>
          <a:prstGeom prst="roundRect">
            <a:avLst>
              <a:gd name="adj" fmla="val 2807"/>
            </a:avLst>
          </a:prstGeom>
          <a:solidFill>
            <a:srgbClr val="172033"/>
          </a:solidFill>
          <a:ln/>
          <a:effectLst>
            <a:outerShdw sx="100000" sy="100000" kx="0" ky="0" algn="bl" rotWithShape="0" blurRad="177800" dist="38100" dir="5400000">
              <a:srgbClr val="0F172A">
                <a:alpha val="16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9336024" y="1837944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30" name="Text 28"/>
          <p:cNvSpPr/>
          <p:nvPr/>
        </p:nvSpPr>
        <p:spPr>
          <a:xfrm>
            <a:off x="9336024" y="18379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9336024" y="2441448"/>
            <a:ext cx="2130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ollama（任意）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9299448" y="2843784"/>
            <a:ext cx="2203704" cy="1691640"/>
          </a:xfrm>
          <a:prstGeom prst="roundRect">
            <a:avLst>
              <a:gd name="adj" fmla="val 3243"/>
            </a:avLst>
          </a:prstGeom>
          <a:solidFill>
            <a:srgbClr val="131C2E"/>
          </a:solidFill>
          <a:ln w="9525">
            <a:solidFill>
              <a:srgbClr val="2430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427464" y="2953512"/>
            <a:ext cx="1947672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brew install ollama</a:t>
            </a:r>
            <a:endParaRPr lang="en-US" sz="9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brew services start ollama</a:t>
            </a:r>
            <a:endParaRPr lang="en-US" sz="9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ollama pull gemma4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9299448" y="4672584"/>
            <a:ext cx="2203704" cy="685800"/>
          </a:xfrm>
          <a:prstGeom prst="roundRect">
            <a:avLst>
              <a:gd name="adj" fmla="val 8000"/>
            </a:avLst>
          </a:prstGeom>
          <a:solidFill>
            <a:srgbClr val="1B2A3F"/>
          </a:solidFill>
          <a:ln/>
        </p:spPr>
      </p:sp>
      <p:sp>
        <p:nvSpPr>
          <p:cNvPr id="35" name="Text 33"/>
          <p:cNvSpPr/>
          <p:nvPr/>
        </p:nvSpPr>
        <p:spPr>
          <a:xfrm>
            <a:off x="9427464" y="4745736"/>
            <a:ext cx="1947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確認
</a:t>
            </a:r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ローカル LLM を使う場合のみ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57200" y="585216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コマンドは上記の package.json / .opencode.json の内容をそのまま反映したもの。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40" kern="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REPRODUCTION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再現手順 ② — 設定と Skills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3566160" cy="3977640"/>
          </a:xfrm>
          <a:prstGeom prst="roundRect">
            <a:avLst>
              <a:gd name="adj" fmla="val 2051"/>
            </a:avLst>
          </a:prstGeom>
          <a:solidFill>
            <a:srgbClr val="172033"/>
          </a:solidFill>
          <a:ln/>
          <a:effectLst>
            <a:outerShdw sx="100000" sy="100000" kx="0" ky="0" algn="bl" rotWithShape="0" blurRad="177800" dist="38100" dir="5400000">
              <a:srgbClr val="0F172A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837944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18379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13232" y="2441448"/>
            <a:ext cx="3054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設定ファイル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76656" y="2843784"/>
            <a:ext cx="3127248" cy="1965960"/>
          </a:xfrm>
          <a:prstGeom prst="roundRect">
            <a:avLst>
              <a:gd name="adj" fmla="val 2791"/>
            </a:avLst>
          </a:prstGeom>
          <a:solidFill>
            <a:srgbClr val="131C2E"/>
          </a:solidFill>
          <a:ln w="9525">
            <a:solidFill>
              <a:srgbClr val="2430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971800"/>
            <a:ext cx="2834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mkdir -p ~/.config/opencode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opencode.jsonc（ temperature: 0 / top_p: 0.2）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.opencode.json（ ollama provider）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package.json（ @opencode-ai/plugin ）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76656" y="4946904"/>
            <a:ext cx="3127248" cy="411480"/>
          </a:xfrm>
          <a:prstGeom prst="roundRect">
            <a:avLst>
              <a:gd name="adj" fmla="val 13333"/>
            </a:avLst>
          </a:prstGeom>
          <a:solidFill>
            <a:srgbClr val="1B2A3F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4946904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3ファイルを手で配置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297680" y="1600200"/>
            <a:ext cx="3566160" cy="3977640"/>
          </a:xfrm>
          <a:prstGeom prst="roundRect">
            <a:avLst>
              <a:gd name="adj" fmla="val 2051"/>
            </a:avLst>
          </a:prstGeom>
          <a:solidFill>
            <a:srgbClr val="172033"/>
          </a:solidFill>
          <a:ln/>
          <a:effectLst>
            <a:outerShdw sx="100000" sy="100000" kx="0" ky="0" algn="bl" rotWithShape="0" blurRad="177800" dist="38100" dir="5400000">
              <a:srgbClr val="0F172A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53712" y="1837944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/>
        </p:spPr>
      </p:sp>
      <p:sp>
        <p:nvSpPr>
          <p:cNvPr id="14" name="Text 12"/>
          <p:cNvSpPr/>
          <p:nvPr/>
        </p:nvSpPr>
        <p:spPr>
          <a:xfrm>
            <a:off x="4553712" y="18379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53712" y="2441448"/>
            <a:ext cx="3054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Skills — .agents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517136" y="2843784"/>
            <a:ext cx="3127248" cy="1965960"/>
          </a:xfrm>
          <a:prstGeom prst="roundRect">
            <a:avLst>
              <a:gd name="adj" fmla="val 2791"/>
            </a:avLst>
          </a:prstGeom>
          <a:solidFill>
            <a:srgbClr val="131C2E"/>
          </a:solidFill>
          <a:ln w="9525">
            <a:solidFill>
              <a:srgbClr val="2430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3440" y="2971800"/>
            <a:ext cx="2834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mkdir -p ~/.agents/skills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各 SKILL.md を配置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.skill-lock.json に取得元を記録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git 管理の対象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17136" y="4946904"/>
            <a:ext cx="3127248" cy="411480"/>
          </a:xfrm>
          <a:prstGeom prst="roundRect">
            <a:avLst>
              <a:gd name="adj" fmla="val 13333"/>
            </a:avLst>
          </a:prstGeom>
          <a:solidFill>
            <a:srgbClr val="1B2A3F"/>
          </a:solidFill>
          <a:ln/>
        </p:spPr>
      </p:sp>
      <p:sp>
        <p:nvSpPr>
          <p:cNvPr id="19" name="Text 17"/>
          <p:cNvSpPr/>
          <p:nvPr/>
        </p:nvSpPr>
        <p:spPr>
          <a:xfrm>
            <a:off x="4663440" y="4946904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7個が実体。ここが原本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138160" y="1600200"/>
            <a:ext cx="3566160" cy="3977640"/>
          </a:xfrm>
          <a:prstGeom prst="roundRect">
            <a:avLst>
              <a:gd name="adj" fmla="val 2051"/>
            </a:avLst>
          </a:prstGeom>
          <a:solidFill>
            <a:srgbClr val="172033"/>
          </a:solidFill>
          <a:ln/>
          <a:effectLst>
            <a:outerShdw sx="100000" sy="100000" kx="0" ky="0" algn="bl" rotWithShape="0" blurRad="177800" dist="38100" dir="5400000">
              <a:srgbClr val="0F172A">
                <a:alpha val="1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394192" y="1837944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/>
        </p:spPr>
      </p:sp>
      <p:sp>
        <p:nvSpPr>
          <p:cNvPr id="22" name="Text 20"/>
          <p:cNvSpPr/>
          <p:nvPr/>
        </p:nvSpPr>
        <p:spPr>
          <a:xfrm>
            <a:off x="8394192" y="18379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394192" y="2441448"/>
            <a:ext cx="3054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Skills — 連携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357616" y="2843784"/>
            <a:ext cx="3127248" cy="1965960"/>
          </a:xfrm>
          <a:prstGeom prst="roundRect">
            <a:avLst>
              <a:gd name="adj" fmla="val 2791"/>
            </a:avLst>
          </a:prstGeom>
          <a:solidFill>
            <a:srgbClr val="131C2E"/>
          </a:solidFill>
          <a:ln w="9525">
            <a:solidFill>
              <a:srgbClr val="2430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503920" y="2971800"/>
            <a:ext cx="2834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~/.claude/skills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ln -s ../../.agents/skills/&lt;name&gt; &lt;name&gt;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6個を symlink で結ぶ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progress-report のみ実体配置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8357616" y="4946904"/>
            <a:ext cx="3127248" cy="411480"/>
          </a:xfrm>
          <a:prstGeom prst="roundRect">
            <a:avLst>
              <a:gd name="adj" fmla="val 13333"/>
            </a:avLst>
          </a:prstGeom>
          <a:solidFill>
            <a:srgbClr val="1B2A3F"/>
          </a:solidFill>
          <a:ln/>
        </p:spPr>
      </p:sp>
      <p:sp>
        <p:nvSpPr>
          <p:cNvPr id="27" name="Text 25"/>
          <p:cNvSpPr/>
          <p:nvPr/>
        </p:nvSpPr>
        <p:spPr>
          <a:xfrm>
            <a:off x="8503920" y="4946904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側を git で囲わない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5806440"/>
            <a:ext cx="11247120" cy="640080"/>
          </a:xfrm>
          <a:prstGeom prst="roundRect">
            <a:avLst>
              <a:gd name="adj" fmla="val 11429"/>
            </a:avLst>
          </a:prstGeom>
          <a:solidFill>
            <a:srgbClr val="1F2A44"/>
          </a:solidFill>
          <a:ln/>
          <a:effectLst>
            <a:outerShdw sx="100000" sy="100000" kx="0" ky="0" algn="bl" rotWithShape="0" blurRad="177800" dist="38100" dir="5400000">
              <a:srgbClr val="0F172A">
                <a:alpha val="16000"/>
              </a:srgbClr>
            </a:outerShdw>
          </a:effectLst>
        </p:spPr>
      </p:sp>
      <p:pic>
        <p:nvPicPr>
          <p:cNvPr id="2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6007608"/>
            <a:ext cx="256032" cy="256032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1078992" y="580644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再現時の注意: </a:t>
            </a:r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~/.local/share/opencode/ の session データ（opencode.db 443MB など）は環境の一部だが、共有すると履歴が混ざる。設定と Skills のみを複製するのが安全。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40" kern="0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VERIFY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11247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検証コマンド — 実行して確認する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627632"/>
            <a:ext cx="5943600" cy="4023360"/>
          </a:xfrm>
          <a:prstGeom prst="roundRect">
            <a:avLst>
              <a:gd name="adj" fmla="val 1818"/>
            </a:avLst>
          </a:prstGeom>
          <a:solidFill>
            <a:srgbClr val="131C2E"/>
          </a:solidFill>
          <a:ln w="12700">
            <a:solidFill>
              <a:srgbClr val="2430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773936"/>
            <a:ext cx="5541264" cy="3730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--- バージョン ---</a:t>
            </a:r>
            <a:endParaRPr lang="en-US" sz="9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opencode --version      # 1.18.29</a:t>
            </a:r>
            <a:endParaRPr lang="en-US" sz="9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 --version        # 2.1.233</a:t>
            </a:r>
            <a:endParaRPr lang="en-US" sz="9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 -v &amp;&amp; npm -v      # v26.7.0 / 11.19.0</a:t>
            </a:r>
            <a:endParaRPr lang="en-US" sz="9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python3 -V              # Python 3.13.13</a:t>
            </a:r>
            <a:endParaRPr lang="en-US" sz="9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brew --version          # Homebrew 6.0.22</a:t>
            </a:r>
            <a:endParaRPr lang="en-US" sz="9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--- AI エージェント ---</a:t>
            </a:r>
            <a:endParaRPr lang="en-US" sz="9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ollama list             # 停止中 → エラー</a:t>
            </a:r>
            <a:endParaRPr lang="en-US" sz="9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brew services list      # ollama: none</a:t>
            </a:r>
            <a:endParaRPr lang="en-US" sz="9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 mcp list         # MCP 未設定</a:t>
            </a:r>
            <a:endParaRPr lang="en-US" sz="9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--- Skills ---</a:t>
            </a:r>
            <a:endParaRPr lang="en-US" sz="9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 ~/.agents/.skill-lock.json</a:t>
            </a:r>
            <a:endParaRPr lang="en-US" sz="9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ls -l ~/.claude/skills  # symlink を確認</a:t>
            </a:r>
            <a:endParaRPr lang="en-US" sz="9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 ~ -name SKILL.md</a:t>
            </a:r>
            <a:endParaRPr lang="en-US" sz="9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--- セッション ---</a:t>
            </a:r>
            <a:endParaRPr lang="en-US" sz="9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ls -lh ~/.local/share/opencode/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6675120" y="1627632"/>
            <a:ext cx="5029200" cy="1920240"/>
          </a:xfrm>
          <a:prstGeom prst="roundRect">
            <a:avLst>
              <a:gd name="adj" fmla="val 3810"/>
            </a:avLst>
          </a:prstGeom>
          <a:solidFill>
            <a:srgbClr val="ECFDF5"/>
          </a:solidFill>
          <a:ln/>
          <a:effectLst>
            <a:outerShdw sx="100000" sy="100000" kx="0" ky="0" algn="bl" rotWithShape="0" blurRad="177800" dist="38100" dir="5400000">
              <a:srgbClr val="0F172A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31152" y="1847088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0" y="184708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F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期待される出力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949440" y="2231136"/>
            <a:ext cx="4480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047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opencode --version
</a:t>
            </a:r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1.18.29
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047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 --version
</a:t>
            </a:r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2.1.233 (Claude Code)
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047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sw_vers
</a:t>
            </a:r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ProductVersion: 26.6.2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675120" y="3703320"/>
            <a:ext cx="5029200" cy="1947672"/>
          </a:xfrm>
          <a:prstGeom prst="roundRect">
            <a:avLst>
              <a:gd name="adj" fmla="val 3756"/>
            </a:avLst>
          </a:prstGeom>
          <a:solidFill>
            <a:srgbClr val="FEF2F2"/>
          </a:solidFill>
          <a:ln/>
          <a:effectLst>
            <a:outerShdw sx="100000" sy="100000" kx="0" ky="0" algn="bl" rotWithShape="0" blurRad="177800" dist="38100" dir="5400000">
              <a:srgbClr val="0F172A">
                <a:alpha val="16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1152" y="3913632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15200" y="391363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91B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差分が出たときの切り分け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6949440" y="4389120"/>
            <a:ext cx="91440" cy="91440"/>
          </a:xfrm>
          <a:prstGeom prst="roundRect">
            <a:avLst>
              <a:gd name="adj" fmla="val 50000"/>
            </a:avLst>
          </a:prstGeom>
          <a:solidFill>
            <a:srgbClr val="FB7185"/>
          </a:solidFill>
          <a:ln/>
        </p:spPr>
      </p:sp>
      <p:sp>
        <p:nvSpPr>
          <p:cNvPr id="14" name="Text 10"/>
          <p:cNvSpPr/>
          <p:nvPr/>
        </p:nvSpPr>
        <p:spPr>
          <a:xfrm>
            <a:off x="7132320" y="4315968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がエラー → 起動していないだけ。brew services start ollama で解決。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6949440" y="4718304"/>
            <a:ext cx="91440" cy="91440"/>
          </a:xfrm>
          <a:prstGeom prst="roundRect">
            <a:avLst>
              <a:gd name="adj" fmla="val 50000"/>
            </a:avLst>
          </a:prstGeom>
          <a:solidFill>
            <a:srgbClr val="FB7185"/>
          </a:solidFill>
          <a:ln/>
        </p:spPr>
      </p:sp>
      <p:sp>
        <p:nvSpPr>
          <p:cNvPr id="16" name="Text 12"/>
          <p:cNvSpPr/>
          <p:nvPr/>
        </p:nvSpPr>
        <p:spPr>
          <a:xfrm>
            <a:off x="7132320" y="4645152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が 2.1.x 未満 → npm -g の再インストール。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6949440" y="5047488"/>
            <a:ext cx="91440" cy="91440"/>
          </a:xfrm>
          <a:prstGeom prst="roundRect">
            <a:avLst>
              <a:gd name="adj" fmla="val 50000"/>
            </a:avLst>
          </a:prstGeom>
          <a:solidFill>
            <a:srgbClr val="FB7185"/>
          </a:solidFill>
          <a:ln/>
        </p:spPr>
      </p:sp>
      <p:sp>
        <p:nvSpPr>
          <p:cNvPr id="18" name="Text 14"/>
          <p:cNvSpPr/>
          <p:nvPr/>
        </p:nvSpPr>
        <p:spPr>
          <a:xfrm>
            <a:off x="7132320" y="4974336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が見つからない → ~/.agents 側の実体が消えている可能性。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6949440" y="5376672"/>
            <a:ext cx="91440" cy="91440"/>
          </a:xfrm>
          <a:prstGeom prst="roundRect">
            <a:avLst>
              <a:gd name="adj" fmla="val 50000"/>
            </a:avLst>
          </a:prstGeom>
          <a:solidFill>
            <a:srgbClr val="FB7185"/>
          </a:solidFill>
          <a:ln/>
        </p:spPr>
      </p:sp>
      <p:sp>
        <p:nvSpPr>
          <p:cNvPr id="20" name="Text 16"/>
          <p:cNvSpPr/>
          <p:nvPr/>
        </p:nvSpPr>
        <p:spPr>
          <a:xfrm>
            <a:off x="7132320" y="530352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に python3 が無い → miniconda3 の bin が消えている。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11696"/>
            <a:ext cx="12161520" cy="146304"/>
          </a:xfrm>
          <a:prstGeom prst="rect">
            <a:avLst/>
          </a:prstGeom>
          <a:solidFill>
            <a:srgbClr val="22D3E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58368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40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まとめ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57200" y="1481328"/>
            <a:ext cx="5257800" cy="1115568"/>
          </a:xfrm>
          <a:prstGeom prst="roundRect">
            <a:avLst>
              <a:gd name="adj" fmla="val 6557"/>
            </a:avLst>
          </a:prstGeom>
          <a:solidFill>
            <a:srgbClr val="131C2E"/>
          </a:solidFill>
          <a:ln w="12700">
            <a:solidFill>
              <a:srgbClr val="24304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76656" y="1700784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7" name="Text 4"/>
          <p:cNvSpPr/>
          <p:nvPr/>
        </p:nvSpPr>
        <p:spPr>
          <a:xfrm>
            <a:off x="676656" y="17007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170432" y="1700784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は macOS 26.6.2 / arm64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170432" y="201168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M3・8コア・24GB。Intel 版では再現できない。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989320" y="1481328"/>
            <a:ext cx="5257800" cy="1115568"/>
          </a:xfrm>
          <a:prstGeom prst="roundRect">
            <a:avLst>
              <a:gd name="adj" fmla="val 6557"/>
            </a:avLst>
          </a:prstGeom>
          <a:solidFill>
            <a:srgbClr val="131C2E"/>
          </a:solidFill>
          <a:ln w="12700">
            <a:solidFill>
              <a:srgbClr val="24304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208776" y="1700784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/>
        </p:spPr>
      </p:sp>
      <p:sp>
        <p:nvSpPr>
          <p:cNvPr id="12" name="Text 9"/>
          <p:cNvSpPr/>
          <p:nvPr/>
        </p:nvSpPr>
        <p:spPr>
          <a:xfrm>
            <a:off x="6208776" y="17007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702552" y="1700784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ツールは Homebrew 中心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702552" y="201168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opencode・ollama・rg・jq・gh・git-lfs と LibreOffice cask。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457200" y="2779776"/>
            <a:ext cx="5257800" cy="1115568"/>
          </a:xfrm>
          <a:prstGeom prst="roundRect">
            <a:avLst>
              <a:gd name="adj" fmla="val 6557"/>
            </a:avLst>
          </a:prstGeom>
          <a:solidFill>
            <a:srgbClr val="131C2E"/>
          </a:solidFill>
          <a:ln w="12700">
            <a:solidFill>
              <a:srgbClr val="24304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76656" y="2999232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/>
        </p:spPr>
      </p:sp>
      <p:sp>
        <p:nvSpPr>
          <p:cNvPr id="17" name="Text 14"/>
          <p:cNvSpPr/>
          <p:nvPr/>
        </p:nvSpPr>
        <p:spPr>
          <a:xfrm>
            <a:off x="676656" y="2999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170432" y="2999232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エージェントは 2 つ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1170432" y="3310128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opencode 1.18.29 と Claude Code 2.1.233。どちらも MCP は未設定。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5989320" y="2779776"/>
            <a:ext cx="5257800" cy="1115568"/>
          </a:xfrm>
          <a:prstGeom prst="roundRect">
            <a:avLst>
              <a:gd name="adj" fmla="val 6557"/>
            </a:avLst>
          </a:prstGeom>
          <a:solidFill>
            <a:srgbClr val="131C2E"/>
          </a:solidFill>
          <a:ln w="12700">
            <a:solidFill>
              <a:srgbClr val="24304A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208776" y="2999232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FB7185"/>
          </a:solidFill>
          <a:ln/>
        </p:spPr>
      </p:sp>
      <p:sp>
        <p:nvSpPr>
          <p:cNvPr id="22" name="Text 19"/>
          <p:cNvSpPr/>
          <p:nvPr/>
        </p:nvSpPr>
        <p:spPr>
          <a:xfrm>
            <a:off x="6208776" y="2999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6702552" y="2999232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設定は 2 ファイル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6702552" y="3310128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opencode.jsonc で temperature: 0 / top_p: 0.2 を全エージェントに適用。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457200" y="4078224"/>
            <a:ext cx="5257800" cy="1115568"/>
          </a:xfrm>
          <a:prstGeom prst="roundRect">
            <a:avLst>
              <a:gd name="adj" fmla="val 6557"/>
            </a:avLst>
          </a:prstGeom>
          <a:solidFill>
            <a:srgbClr val="131C2E"/>
          </a:solidFill>
          <a:ln w="12700">
            <a:solidFill>
              <a:srgbClr val="24304A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76656" y="429768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27" name="Text 24"/>
          <p:cNvSpPr/>
          <p:nvPr/>
        </p:nvSpPr>
        <p:spPr>
          <a:xfrm>
            <a:off x="676656" y="4297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1170432" y="4297680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は 9 個が実体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1170432" y="4608576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.agents/skills 7 + opencode 2 + progress-report。claude 側 6 個は symlink。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5989320" y="4078224"/>
            <a:ext cx="5257800" cy="1115568"/>
          </a:xfrm>
          <a:prstGeom prst="roundRect">
            <a:avLst>
              <a:gd name="adj" fmla="val 6557"/>
            </a:avLst>
          </a:prstGeom>
          <a:solidFill>
            <a:srgbClr val="131C2E"/>
          </a:solidFill>
          <a:ln w="12700">
            <a:solidFill>
              <a:srgbClr val="24304A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6208776" y="429768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/>
        </p:spPr>
      </p:sp>
      <p:sp>
        <p:nvSpPr>
          <p:cNvPr id="32" name="Text 29"/>
          <p:cNvSpPr/>
          <p:nvPr/>
        </p:nvSpPr>
        <p:spPr>
          <a:xfrm>
            <a:off x="6208776" y="4297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6702552" y="4297680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は停止中</a:t>
            </a:r>
            <a:endParaRPr lang="en-US" sz="1400" dirty="0"/>
          </a:p>
        </p:txBody>
      </p:sp>
      <p:sp>
        <p:nvSpPr>
          <p:cNvPr id="34" name="Text 31"/>
          <p:cNvSpPr/>
          <p:nvPr/>
        </p:nvSpPr>
        <p:spPr>
          <a:xfrm>
            <a:off x="6702552" y="4608576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設定は残しているがサーバ未起動。必要なら brew services start。</a:t>
            </a:r>
            <a:endParaRPr lang="en-US" sz="1150" dirty="0"/>
          </a:p>
        </p:txBody>
      </p:sp>
      <p:sp>
        <p:nvSpPr>
          <p:cNvPr id="35" name="Text 32"/>
          <p:cNvSpPr/>
          <p:nvPr/>
        </p:nvSpPr>
        <p:spPr>
          <a:xfrm>
            <a:off x="457200" y="5486400"/>
            <a:ext cx="11247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有意義な差分は 3 点だけ：ollama の起動状態、Skills の symlink 解決、session DB の扱い。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現在の動作環境の再現</dc:title>
  <dc:subject>PptxGenJS Presentation</dc:subject>
  <dc:creator>opencode</dc:creator>
  <cp:lastModifiedBy>opencode</cp:lastModifiedBy>
  <cp:revision>1</cp:revision>
  <dcterms:created xsi:type="dcterms:W3CDTF">2026-10-04T20:14:12Z</dcterms:created>
  <dcterms:modified xsi:type="dcterms:W3CDTF">2026-10-04T20:14:12Z</dcterms:modified>
</cp:coreProperties>
</file>